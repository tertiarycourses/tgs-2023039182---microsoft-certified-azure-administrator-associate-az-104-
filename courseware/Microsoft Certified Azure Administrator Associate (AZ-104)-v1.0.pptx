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AZ-104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MICROSOFT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Microsoft Certified: Azure Administrator Associate (AZ-104)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TGS-2023039182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Azure certified — cloud infrastructure, DevOps &amp; automation.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Azure, cloud administration &amp;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Azure or other clouds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build or administer on Azure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Identities, Governance &amp; Storage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Identities &amp; Governance (Labs 1–6)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Storage (Labs 7–11)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Compute &amp; Virtual Networking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Compute (Labs 12–17)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Networking begins (Labs 18–19)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Networking, Monitoring, Maintenance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Networking (Labs 20–22)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Monitoring &amp; Maintenance (Labs 23–26)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Identities &amp; Governance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Entra users/groups, RBAC, Policy, resource groups, locks, tags,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Storage accounts, redundancy, access control, Blob, Files, data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ARM/Bicep, virtual machines, scale sets, containers, App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Virtual Networking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VNets, NSGs, Bastion, endpoints, DNS, load balancing.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Monitor &amp; Maintain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Azure Monitor, Network Watcher, Azure Backup, Site Recovery.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Azure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Azure Fundamentals for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Microsoft Azure?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Public cloud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Compute, storage, networking, identity and platform services on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Pay-as-you-go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Rent capacity instead of buying and running your own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Many ways to manage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Azure Portal, Azure CLI, Azure PowerShell and ARM/Bicep templates.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AZ-104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Implement, manage and monitor an organisation's Azure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Azure Resource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 of the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Microsoft Entra tenant (identity)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Management groups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many subscriptions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Billing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Subscription = billing boundary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Resource groups = lifecycle folder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Delete the RG, delete its contents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Governance flows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Policy, RBAC, locks, tags, budgets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Applied at a scope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Inherited by everything below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Everything is a resource in a resource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Master the hierarchy — scopes are where identity, governance, cost and access all come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ways to administer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Command-line &amp;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Portal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Visual, discover features and blades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when learning a task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CLI (az)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Cross-platform commands in Cloud Shell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Fast, scriptable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PowerShell (Az)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Cmdlets for Windows-centric teams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Same result as CLI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ARM / Bicep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Infrastructure as code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Repeatable deployments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Cloud Shell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Browser-based shell at https://shell.azure.com — nothing to install locally.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Pre-loaded with the az CLI, Az PowerShell, azcopy and Bicep.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Bash for az commands; PowerShell for Az cmdlets.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runs in the Portal and Cloud Shell.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Manage Azure Identities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Microsoft Entra ID · RBAC · Azure Policy · Subscriptions ·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20–25%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Entra ID authenticates identities (users, groups, guests); Azure RBAC authorises what they may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RBAC role assignment = security principal + role definition + scope (management group / subscription / RG / resource).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 is applied at a scope and inherited downward: Azure Policy, resource locks, tags, budgets.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resource hierarchy: management group → subscription → resource group → resource.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Microsoft Entra Users and Groups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External (B2B Guest) Users and Configure SSPR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Access to Azure Resources with RBAC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and Manage Azure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Resource Groups, Locks and Tags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Costs and Configure Management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cloud users, builds security and Microsoft 365 groups, manages membership and properties, and assigns licenses in Microsoft Entra 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team of Entra users, a security group, a Microsoft 365 group, and a dynamic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Entra ID, az ad, Microsoft Graph, licenses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in and confirm your tenant primary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DOMAIN=$(az rest --method get --url "https://graph.microsoft.com/v1.0/domains?\$select=id,isDefault" --query "value[?isDefault].id"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individual cloud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create --display-name "Jane Doe" --user-principal-name "jdoe@$DOMAIN" --password "P@ssw0rd-Lab1!"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Edit user job title, department and usage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update --id "jdoe@$DOMAIN" --set jobTitle="Cloud Administrator" department="IT" usageLocation="SG"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Bulk create users from a list (Portal bulk create)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create --display-name "Amy Tan" --user-principal-name "atan@$DOMAIN" --password "P@ssw0rd-Lab1!"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security group and a Microsoft 365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create --display-name "grp-az104-admins" --mail-nickname "grp-az104-admins"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users as members and verify membership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member add --group "$GROUP_ID" --member-id "$JANE_ID"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dynamic-membership group driven by department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"https://graph.microsoft.com/v1.0/groups" --headers "Content-Type=application/json" --body '{"displayName":"grp-az104-it-dynamic","mailNickname":"grp-az104-it-dynamic","mailEnabled":false,"securityEnabled":true,"groupTypes":["DynamicMembership"],"membershipRule":"(user.department -eq \"IT\")","membershipRuleProcessingState":"On"}'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tenant SKUs and assign a license to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"https://graph.microsoft.com/v1.0/users/jdoe@$DOMAIN/assignLicense" --headers "Content-Type=application/json" --body '{ "addLicenses": [ { "skuId": "&lt;SKU_ID&gt;", "disabledPlans": [] } ], "removeLicenses": []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users appear in All users, the groups list their members, the dynamic rule auto-adds IT users, and the assigned license shows on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invites a B2B guest user, reviews external collaboration and cross-tenant settings, then enables and scopes self-service password reset with authentication methods and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redeemed B2B guest user, a partners group, and a scoped SSPR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Entra ID, External Identities / B2B, Password reset (SSPR), az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in and set the tenant primary-domain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DOMAIN=$(az rest --method get --url "https://graph.microsoft.com/v1.0/domains?\$select=id,isDefault" --query "value[?isDefault].id"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Invite a B2B guest user by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"https://graph.microsoft.com/v1.0/invitations" --headers "Content-Type=application/json" --body '{ "invitedUserEmailAddress": "partner.test@gmail.com", "invitedUserDisplayName": "Contoso Partner", "inviteRedirectUrl": "https://myapps.microsoft.com", "sendInvitationMessage": true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guest and add it to a partners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member add --group "$GRP_ID" --member-id "$GUEST_ID"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External collaboration settings and authorization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get --url "https://graph.microsoft.com/v1.0/policies/authorizationPolicy" --query "{allowInvitesFrom:allowInvitesFrom, guestUserRole:guestUserRoleId}"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Cross-tenant access (B2B) default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and scope SSPR to a selected group (Portal)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SSPR authentication methods, registration and notifications (Portal)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reset flow; contrast SSPR with an admin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update --id "jdoe@$DOMAIN" --password "N3wP@ssw0rd-Lab2!"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guest shows User type = Guest with an #EXT# UPN, and a scoped test user can register methods and reset their password via https://aka.ms/sspr.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assigns built-in Azure roles at subscription, resource-group and resource scopes, interprets effective access with Check access, then builds and assigns a custom role.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Role assignments at three scopes plus a custom 'VM Restart Operator'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RBAC (role assignments, role definitions), Resource Manager,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variables and create a target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"rg-az104-lab03"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storage account to act as a scoped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"$SA" --resource-group "$RG" --location "$LOCATION"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Explore built-in role definitions (Owner/Contributor/Reader)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definition list --name "Contributor" --query "[0].permissions[0].{actions:actions, notActions:notActions}"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Reader to a group at subscription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"$GRP_ID" --assignee-principal-type Group --role "Reader" --scope "/subscriptions/$SUB_ID"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Contributor at resource-group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"$JANE_ID" --assignee-principal-type User --role "Contributor" --scope "/subscriptions/$SUB_ID/resourceGroups/$RG"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Storage Blob Data Reader at resource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"$RAJ_ID" --assignee-principal-type User --role "Storage Blob Data Reader" --scope "$SA_ID"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effective access including inherited assignments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list --scope "$SA_ID" --include-inherited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assign a minimal custom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definition create --role-definition /tmp/vm-restart-role.json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Check access and 'az role assignment list --include-inherited' to confirm each principal has the expected role at the right scope, and that the custom role is assignable.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assigns a built-in policy, authors a custom definition, bundles policies into an initiative, reads compliance, and remediates non-compliant resources with a managed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Allowed-locations assignment, a custom tag policy, a governance initiative, and a remediation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Policy (definitions, initiatives, assignments, remediation), managed identity, Storage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resource group as the policy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"rg-az104-lab04"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the built-in Allowed locations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assignment create --name "allowed-locations-lab04" --policy "$LOC_DEF" --scope "$SCOPE" --params '{ "listOfAllowedLocations": { "value": [ "southeastasia" ] }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Deny effect against a disallowed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"stlab04deny$RANDOM" --resource-group "$RG" --location "eastus"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 custom policy definition requiring a 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definition create --name "require-env-tag-on-storage" --display-name "Storage accounts must have an Environment tag" --mode Indexed --rules /tmp/require-env-tag.json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initiative (policy set) and assign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set-definition create --name "az104-governance-baseline" --display-name "AZ-104 Governance Baseline" --definitions /tmp/initiative.json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scan and interpret compliance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state list --resource-group "$RG" --query "[].{resource:resourceId, state:complianceState, policy:policyDefinitionName}"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a Modify policy with managed identity and remediate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remediation create --name "remediate-env-tag" --resource-group "$RG" --policy-assignment "$ASSIGN_ID"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exemption to waive a specific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exemption create --name "exempt-legacy-sa" --policy-assignment "$ASSIGN_ID" --exemption-category Waiver --scope "$SA_ID" --description "Legacy account exempt from Environment tag until migrated"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Deny effect blocks the disallowed region, the Compliance blade shows compliant/non-compliant counts, and the remediation task tags existing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resource groups, deploys a resource, applies and updates tags, moves the resource between groups, and protects resources with CanNotDelete and ReadOnly 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resource groups, a tagged storage account moved to an archive RG, and delete/read-only 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Resource Manager (resource groups, tags, resource locks, resource move),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two resource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"rg-az104-lab05"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storage account to tag, move and 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"$SA" --resource-group "$RG" --location "$LOCATION"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tags to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tag create --resource-id "/subscriptions/$(az account show --query id -o tsv)/resourceGroups/$RG" --tags CostCenter=1001 Environment=Dev Owner=angch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Merge, update and delete tags on the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tag update --resource-id "$SA_ID" --operation Merge --tags Environment=Dev Project=AZ104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resource to the archive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"$RG2" --ids "$SA_ID"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CanNotDelete lock on the archive 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lock create --name "lock-no-delete" --lock-type CanNotDelete --resource-group "$RG2" --notes "Protect archived resources from deletion"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lock, then apply a ReadOnly lock on the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lock create --name "lock-readonly" --lock-type ReadOnly --resource-group "$RG2" --resource-name "$SA" --resource-type "Microsoft.Storage/storageAccounts" --namespace "Microsoft.Storage"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subscription-level resource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provider register --namespace "Microsoft.Storage"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tags read back correctly, the resource now lives in the archive RG, and a delete attempt fails with a ScopeLocked error while the locks are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analyzes costs, creates a budget with alert thresholds, reviews Azure Advisor cost recommendations, and builds a management-group hierarchy to apply governance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monthly budget with alerts, an action group, and an mg-az104 management-group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Cost Management (Cost analysis, budgets, alerts), Azure Advisor, Management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subscription and tenant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SUB_ID=$(az account show --query id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Analyze month-to-date cost by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costmanagement query --type ActualCost --scope "/subscriptions/$SUB_ID" --timeframe MonthToDate --dataset-aggregation '{ "totalCost": { "name": "Cost", "function": "Sum" } }' --dataset-grouping name="ServiceName" type="Dimension"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action group for budget alert emails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action-group create --name "ag-budget-alerts" --resource-group "$RG_MON" --short-name "budgetAG" --action email admin angch@tertiaryinfotech.com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monthly budget with alert thresholds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consumption budget create --budget-name "budget-az104-monthly" --amount 100 --category Cost --time-grain Monthly --start-date "2026-07-01" --end-date "2027-06-30" --notifications '{ "warning80": { "enabled": true, "operator": "GreaterThanOrEqualTo", "threshold": 80, "contactEmails": ["angch@tertiaryinfotech.com"] }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fired cost / anomaly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get --url "https://management.azure.com/subscriptions/$SUB_ID/providers/Microsoft.CostManagement/alerts?api-version=2023-08-01" --query "value[].{name:name, type:properties.definition.type, status:properties.status}"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Azure Advisor cost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advisor recommendation list --query "[?category=='Cost'].{impact:impact, problem:shortDescription.problem, resource:resourceMetadata.resourceId}"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management-group hierarchy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account management-group create --name "mg-az104-prod" --display-name "AZ104 Prod" --parent "mg-az104-root"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subscription and assign inherited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account management-group subscription add --name "mg-az104-nonprod"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budget and action group appear with the configured thresholds, Advisor lists cost recommendations, and the subscription sits under the management-group hierarchy with the role inherited downward.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Microsoft Entra users and groups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external users and self-service password reset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access to Azure resources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and manage Azure Policy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resource groups and subscriptions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subscriptions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Implement and Manage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Storage accounts · Redundancy · Access · Blob · Files · AzCopy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storage account is a globally-unique namespace holding Blobs, Files, Queues and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Redundancy (LRS / ZRS / GRS / RA-GRS) trades cost against durability and regional failover.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 is controlled by keys, SAS tokens, Entra RBAC and storage firewalls / VNet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Blob access tiers (hot / cool / cold / archive), versioning, soft delete and lifecycle rules manage cost.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and Configure Storage Accounts and Redundancy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Access to Storage: Firewalls, SAS, Access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Azure Blob Storage: Tiers, Lifecycle, Versioning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Azure Files and Identity-Based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Data with Storage Explorer and AzCopy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general-purpose v2 storage accounts, switches redundancy tiers, configures encryption, and sets up object replication across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source and destination storage account with an object replication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Storage, Blob storage, Azure Key Vault, object replication, az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rg-az104-lab07 --location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LRS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$SRC --resource-group rg-az104-lab07 --location eastus --sku Standard_LRS --kind StorageV2 --access-tier 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Change redundancy to RA-GRS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$SRC --resource-group rg-az104-lab07 --sku Standard_RAGRS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and set customer-managed key encryption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$SRC --resource-group rg-az104-lab07 --encryption-key-source Microsoft.Keyvault --encryption-key-vault "https://$KV.vault.azure.net/" --encryption-key-name storagecmk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destination account for replication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$DST --resource-group rg-az104-lab07 --location westus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versioning and change feed on both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$ACC --resource-group rg-az104-lab07 --enable-versioning true --enable-change-feed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containers and upload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$SRC --container-name orders --name sample.txt --file sample.txt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 object replication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or-policy create --account-name $DST --resource-group rg-az104-lab07 --source-account $SRC --destination-account $DST --source-container orders --destination-container orders --min-creation-time '2024-01-01T00:00:00Z'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blobs on the destination account and confirm the source blob has replicated asynchronously.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rotates access keys, generates account and service SAS tokens, binds a SAS to a stored access policy, locks the account behind a firewall, and grants RBAC data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firewalled storage account secured with SAS tokens, stored access policies, and RBAC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Storage, storage firewall + virtual networks, SAS, stored access policies, access keys, Azure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rg-az104-lab08 --location eastus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container and upload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$SA --container-name docs --name report.txt --file report.txt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and rotate access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keys renew --account-name $SA --resource-group rg-az104-lab08 --key 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account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generate-sas --account-name $SA --account-key $KEY --services b --resource-types sco --permissions rl --expiry $EXPIRY --https-only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service SAS for one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generate-sas --account-name $SA --account-key $KEY --container-name docs --name report.txt --permissions r --expiry $EXPIRY --https-only --full-uri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stored access policy and bind a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policy create --account-name $SA --account-key $KEY --container-name docs --name readonly --permissions rl --expiry $POLICYEXP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the storage firewall and VNet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$SA --resource-group rg-az104-lab08 --default-action Deny --bypass AzureServices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identity-based RBAC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Blob Data Contributor" --scope $SCOPE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blobs with --auth-mode login using only your RBAC identity, with no key or SAS supplied.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 blob container, moves blobs between hot/cool/cold/archive tiers, enables versioning and soft delete, and authors a JSON lifecycle management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blob container with tiered blobs, soft delete, versioning, and an automated lifecycle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Blob Storage, access tiers, blob/container soft delete, blob versioning, lifecycle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rg-az104-lab09 --location eastus --sku Standard_LRS --kind StorageV2 --access-tier 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blob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create --account-name $SA --name media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blobs into different tiers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$SA --container-name media --name hot.txt --file hot.txt --tier Hot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Change the access tier of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set-tier --account-name $SA --container-name media --name hot.txt --tier Archive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blob versioning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$SA --resource-group rg-az104-lab09 --enable-versioning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soft delete for blobs and containers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$SA --resource-group rg-az104-lab09 --enable-delete-retention true --delete-retention-days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 JSON lifecycle management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management-policy create --account-name $SA --resource-group rg-az104-lab09 --policy @policy.json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lifecycle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management-policy show --account-name $SA --resource-group rg-az104-lab09 -o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Show the management policy and confirm the tier-down and expire rules match the JSON you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an SMB file share, uploads files, takes and restores snapshots, enables share soft delete, and configures identity-based authentication with share-level RBAC.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SMB file share with snapshots, soft delete, and identity-based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Files, share snapshots, file-share soft delete, identity-based authentication, Azure RBAC share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rg-az104-lab10 --location eastus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file share with a quota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share-rm create --resource-group rg-az104-lab10 --storage-account $SA --name projects --quota 100 --access-tier TransactionOptimized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 file and list the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file upload --account-name $SA --account-key $KEY --share-name projects --source plan.txt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share soft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file-service-properties update --account-name $SA --resource-group rg-az104-lab10 --enable-delete-retention true --delete-retention-days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share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share snapshot --account-name $SA --account-key $KEY --name projects --query snapshot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a file from a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file copy start --account-name $SA --account-key $KEY --source-share projects --source-path plan.txt --source-snapshot "$SNAP" --destination-share projects --destination-path plan-restored.txt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identity-based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$SA --resource-group rg-az104-lab10 --enable-files-aadds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a share-level RBAC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File Data SMB Share Contributor" --scope "$SHARESCOPE"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files inside the snapshot and confirm the restored file appears back in the live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provisions an account with two containers, then moves data with Azure Storage Explorer, AzCopy via SAS, and AzCopy via Entra login including a server-side copy.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storage account with data transferred via Storage Explorer and AzCopy.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 (Blob), Azure Storage Explorer, AzCopy, SAS, Azure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account and two containers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create --account-name $SA --name source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yourself data-plane RBAC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Blob Data Contributor" --scope $SCOPE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connect Azure Storage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and download with the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test data and a container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generate-sas --account-name $SA --account-key $KEY --name source --permissions racwdl --expiry $EXPIRY --https-only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 folder with AzCopy using a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copy "$HOME/azcopydemo/*" "https://$SA.blob.core.windows.net/source?$SAS"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account-to-account server-side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copy "https://$SA.blob.core.windows.net/source?$SAS" "https://$SA.blob.core.windows.net/backup?$BACKUPSAS"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Use AzCopy with Entra login and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sync "$HOME/azcopydemo" "https://$SA.blob.core.windows.net/source"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Run azcopy list on the source container URL and confirm the uploaded and synced files are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access to storage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Blob Storage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Files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Blob Storage / Configure access to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 and Manage Azure Compute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ARM &amp; Bicep · VMs · Scale Sets · Containers ·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20–25%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Infrastructure as code with ARM templates and Bicep makes deployments repeatable and reviewable.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the least-effort compute: VM → VM Scale Set → containers (ACI / Container Apps) → App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Availability zones and sets, managed disks and VM sizes determine resilience and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 Service and Container Apps are fully-managed PaaS for web apps, APIs and microservices.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12–13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 Deployment with ARM Templates and Bicep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Virtual Machine, Encryption at Host, and Moving VMs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14–15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VM Sizes, Disks, and Availability (Zones &amp; Sets)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and Configure a Virtual Machine Scale Set (VMSS) with Autoscale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16–17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Containers: ACR, Container Instances, and Container Apps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App Service: Plans, Scaling, TLS, Custom Domains, Backup, Networking, 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Read, edit, and deploy resources with ARM templates and Bicep, then export and decompile between the two formats.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storage account deployed from both an ARM template and a Bicep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ARM, Bicep, az deployment, Azure Storage, Cloud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rg-az104-lab12 --location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an ARM template's parameters/resources/outputs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the ARM template to add SKU and harden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the ARM template to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deployment group create --resource-group rg-az104-lab12 --template-file storage.json --parameters storageAccountName=$SANAME skuName=Standard_LRS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and edit a Bicep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Compile the Bicep file to ARM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bicep build --file storage.bicep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the Bicep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deployment group create --resource-group rg-az104-lab12 --template-file storage.bicep --parameters storageAccountName=$SANAME2 skuName=Standard_ZRS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deployment as an ARM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export --name rg-az104-lab12 &gt; exported-rg.json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Decompile the ARM template to Bicep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bicep decompile --file exported-rg.json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storage accounts exist and the exported template decompiles to Bicep.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 Linux VM with encryption at host enabled, then move it across resource groups, subscriptions, and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Linux VM with host-based encryption, moved between resource groups and regions.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Machines, Managed Disks, Azure Resource Mover, 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source and destination resource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rg-az104-lab13 --location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the encryption-at-host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feature register --namespace Microsoft.Compute --name EncryptionAtHost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VM with encryption at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rg-az104-lab13 --name vm-lab13 --image Ubuntu2204 --size Standard_B1s --admin-username azureuser --generate-ssh-keys --encryption-at-host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encryption at host on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show -g rg-az104-lab13 -n vm-lab13 --query securityProfile.encryptionAtHost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rg-az104-lab13-dest --ids $VMID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subscription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rg-az104-lab13-dest --destination-subscription-id $TARGET_SUB --ids $VMID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region with Resource Mover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resource-mover move-collection create --name mc-lab13 --resource-group rg-az104-lab13 --source-region eastus --target-region westus2 --location eastus2euap --identity type=SystemAssigned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encryptionAtHost is true and the VM appears in the destination resource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Resize a VM, attach and expand a managed data disk, and deploy VMs into an availability zone and an availability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resized VM with an expanded data disk plus zonal and availability-set VMs.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Machines, Managed Disks, Availability Zones, Availability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a base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rg-az104-lab14 --name vm-lab14 --image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available and resizable VM sizes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list-vm-resize-options --resource-group rg-az104-lab14 --name vm-lab14 --output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Resize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resize --resource-group rg-az104-lab14 --name vm-lab14 --size Standard_B2s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attach a managed data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disk attach --resource-group rg-az104-lab14 --vm-name vm-lab14 --name datadisk-lab14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Expand the data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disk update --resource-group rg-az104-lab14 --name datadisk-lab14 --size-gb 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into an availability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rg-az104-lab14 --name vm-zone1 --image Ubuntu2204 --size Standard_B1s --zone 1 --admin-username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availability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availability-set create --resource-group rg-az104-lab14 --name avset-lab14 --platform-fault-domain-count 2 --platform-update-domain-count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VMs into the availability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-g rg-az104-lab14 -n vm-set-1 --availability-set avset-lab14 --image Ubuntu2204 --size Standard_B1s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resized VM, the 64 GiB disk, the zonal VM, and both availability-set VMs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VMSS behind a load balancer and attach autoscale rules that add and remove instances based on CPU 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Flexible VMSS with CPU-based scale-out and scale-in autoscale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 Scale Sets, Azure Load Balancer, Azure Monitor Autoscale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rg-az104-lab15 --location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scale set behind a load balancer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create --resource-group rg-az104-lab15 --name vmss-lab15 --orchestration-mode Flexible --image Ubuntu2204 --vm-sku Standard_B1s --instance-count 2 --admin-username azureuser --generate-ssh-keys --load-balancer vmss-lb --upgrade-policy-mode automatic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and manually scale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scale --resource-group rg-az104-lab15 --name vmss-lab15 --new-capacity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autoscale profile with min/max/default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create --resource-group rg-az104-lab15 --resource vmss-lab15 --resource-type Microsoft.Compute/virtualMachineScaleSets --name autoscale-lab15 --min-count 2 --max-count 10 --count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scale-out rule when CPU is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create --resource-group rg-az104-lab15 --autoscale-name autoscale-lab15 --condition "Percentage CPU &gt; 70 avg 5m" --scale out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scale-in rule when CPU is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create --resource-group rg-az104-lab15 --autoscale-name autoscale-lab15 --condition "Percentage CPU &lt; 30 avg 5m" --scale in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autoscale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list --resource-group rg-az104-lab15 --autoscale-name autoscale-lab15 --output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Update the instance SKU and roll to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update --resource-group rg-az104-lab15 --name vmss-lab15 --set sku.name=Standard_B2s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scale rules and the min/max bounds appear in the autoscale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and push an image to Azure Container Registry, run it in Container Instances, then deploy and scale it in Container Apps.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image in ACR running in both Container Instances and a scalable Container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Container Registry, Azure Container Instances, Azure Container Apps, Log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rg-az104-lab16 --location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Azure Container Registry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create --resource-group rg-az104-lab16 --name $ACR --sku Basic --admin-enabled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and push an image with ACR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build --registry $ACR --image webapp:v1 https://github.com/Azure-Samples/acr-build-helloworld-node.git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container with Container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 create --resource-group rg-az104-lab16 --name aci-lab16 --image $ACR_SERVER/webapp:v1 --registry-login-server $ACR_SERVER --registry-username $ACR_USER --registry-password $ACR_PASS --dns-name-label acilab16$RANDOM --ports 80 --cpu 1 --memory 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Container Apps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env create --name aca-env-lab16 --resource-group rg-az104-lab16 --location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container with Container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create --name aca-lab16 --resource-group rg-az104-lab16 --environment aca-env-lab16 --image $ACR_SERVER/webapp:v1 --registry-server $ACR_SERVER --registry-username $ACR_USER --registry-password $ACR_PASS --target-port 80 --ingress external --cpu 0.5 --memory 1.0Gi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Container App sizing and scaling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update --name aca-lab16 --resource-group rg-az104-lab16 --min-replicas 0 --max-replicas 5 --scale-rule-name http-rule --scale-rule-type http --scale-rule-http-concurrency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registry images and usage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repository delete --name $ACR --image webapp:v1 --yes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Browse the ACI and Container App FQDNs and confirm the web app responds.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 App Service plan and web app, then configure scaling, TLS, custom domains, backup, networking, and deployment slots.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Standard-tier web app with autoscale, TLS, backup, VNet integration, and a staging slot.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App Service, App Service plans, Azure Monitor Autoscale, Managed Certificates, VNet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rg-az104-lab17 --location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Standard App Service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appservice plan create --resource-group rg-az104-lab17 --name plan-lab17 --sku S1 --is-linux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App Service web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create --resource-group rg-az104-lab17 --plan plan-lab17 --name $APP --runtime "NODE:20-lts"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scale up, scale out, and autoscale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create -g rg-az104-lab17 --resource $PLANID --name autoscale-lab17 --min-count 1 --max-count 5 --count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a custom DNS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hostname add --resource-group rg-az104-lab17 --webapp-name $APP --hostname www.contoso.com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bind a managed TLS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ssl bind --resource-group rg-az104-lab17 --name $APP --certificate-thumbprint $THUMB --ssl-type SNI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scheduled backups to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backup update --resource-group rg-az104-lab17 --webapp-name $APP --container-url "$CONTAINER_URL" --frequency 1d --retain-one true --retention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VNet integration and access restrictions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vnet-integration add -g rg-az104-lab17 -n $APP --vnet vnet-lab17 --subnet appsvc-subnet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deployment slot and swap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deployment slot swap --resource-group rg-az104-lab17 --name $APP --slot staging --target-slot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app serves over HTTPS with TLS 1.2 and the staging slot swaps into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Automate deployment of resources by using ARM templates or Bicep files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virtual machines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virtual machines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and configure a Virtual Machine Scale Set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containers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Azure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Implement and Manage Virtual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VNets · NSGs &amp; ASGs · Bastion · Endpoints · DNS · Load 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virtual network (VNet) is your private network in Azure, divided into subnets; peering joins VNets.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NSGs and ASGs filter traffic; effective security rules show what actually applies to a NIC.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Bastion gives browser RDP/SSH with no public IP; service/private endpoints lock PaaS to the VNet.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DNS resolves names; load balancers distribute traffic across a backend pool with health probes.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18–19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Networks, Subnets &amp; VNet Peering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IPs, User-Defined Routes &amp; Connectivity Troubleshooting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20–21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Security Groups, Application Security Groups &amp; Effective Rules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Bastion, Service Endpoints &amp; Private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22–22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DNS &amp; Load Balancing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two virtual networks with non-overlapping address spaces and subnets, then peer them so resources communicate over the Azure backbone without a VPN or public 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peered VNets (hub and spoke) in Connected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Virtual Network, Subnets, VNet Peering, Network Watcher, az network vnet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rg-az104-lab18 --location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first VNet vnet-hub with a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rg-az104-lab18 --name vnet-hub --address-prefixes 10.10.0.0/16 --subnet-name snet-hub-app --subnet-prefixes 10.10.1.0/24 --location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second VNet vnet-spoke with a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rg-az104-lab18 --name vnet-spoke --address-prefixes 10.20.0.0/16 --subnet-name snet-spoke-app --subnet-prefixes 10.20.1.0/24 --location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second subnet to the hub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create --resource-group rg-az104-lab18 --vnet-name vnet-hub --name snet-hub-mgmt --address-prefixes 10.10.2.0/24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peering from hub to spoke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create --resource-group rg-az104-lab18 --name hub-to-spoke --vnet-name vnet-hub --remote-vnet vnet-spoke --allow-vnet-access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reverse peering from spoke to 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create --resource-group rg-az104-lab18 --name spoke-to-hub --vnet-name vnet-spoke --remote-vnet vnet-hub --allow-vnet-access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peering state is Connected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show --resource-group rg-az104-lab18 --vnet-name vnet-hub --name hub-to-spoke --query "{name:name, state:peeringState}"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test VMs and check connectivity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rg-az104-lab18 --source-resource vm-hub --dest-resource vm-spoke --dest-port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peerings show peeringState = Connected and test-connectivity across the peering returns Reachable.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Allocate a static Standard public IP, build a route table with a user-defined route forcing traffic through a virtual appliance, associate it to a subnet, then troubleshoot the resulting effective routes.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route table with a 0.0.0.0/0 UDR associated to a workload subnet.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Public IP address, Route Table (UDR), Virtual Network, Network Watcher, NIC, az network route-table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a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rg-az104-lab19 --name vnet-lab19 --address-prefixes 10.30.0.0/16 --subnet-name snet-workload --subnet-prefixes 10.30.1.0/24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static Standard SKU public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rg-az104-lab19 --name pip-web-static --sku Standard --allocation-method Static --version IPv4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allocated address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show --resource-group rg-az104-lab19 --name pip-web-static --query "{ip:ipAddress, sku:sku.name}"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route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route-table create --resource-group rg-az104-lab19 --name rt-workload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UDR to a virtual appliance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route-table route create --resource-group rg-az104-lab19 --route-table-name rt-workload --name route-to-nva --address-prefix 0.0.0.0/0 --next-hop-type VirtualAppliance --next-hop-ip-address 10.30.1.4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Associate the route table to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rg-az104-lab19 --vnet-name vnet-lab19 --name snet-workload --route-table rt-workload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test VM with the static public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rg-az104-lab19 --name vm-web --image Ubuntu2204 --size Standard_B1s --vnet-name vnet-lab19 --subnet snet-workload --public-ip-address pip-web-static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the effective routes on the 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show-effective-route-table --resource-group rg-az104-lab19 --name "$NIC"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Troubleshoot connectivity with Network Watcher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rg-az104-lab19 --source-resource vm-web --dest-address 13.107.42.14 --dest-port 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NIC effective routes show a User-source 0.0.0.0/0 route to VirtualAppliance, and test-connectivity returns Unreachable confirming the UDR diverts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 NSG with prioritized custom rules, group VMs by role using application security groups, reference those ASGs in NSG rules, then read the effective security rules Azure computes for a NIC.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NSG with ASG-based allow/deny rules associated to a subnet.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Network Security Group, Application Security Group, Virtual Network, NIC, Network Watcher, az network nsg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group, VNet and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rg-az104-lab20 --name vnet-lab20 --address-prefixes 10.40.0.0/16 --subnet-name snet-app --subnet-prefixes 10.40.1.0/24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application security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asg create --resource-group rg-az104-lab20 --name asg-web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network security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create --resource-group rg-az104-lab20 --name nsg-app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HTTPS from internet to the web ASG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Allow-HTTPS-Web --priority 100 --direction Inbound --access Allow --protocol Tcp --source-address-prefixes Internet --destination-asgs asg-web --destination-port-ranges 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SQL only from web ASG to db ASG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Allow-SQL-Web-to-DB --priority 110 --direction Inbound --access Allow --protocol Tcp --source-asgs asg-web --destination-asgs asg-db --destination-port-ranges 1433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Explicitly deny everything else inbound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Deny-All-Inbound --priority 4000 --direction Inbound --access Deny --protocol '*' --source-address-prefixes '*' --destination-address-prefixes '*' --destination-port-ranges '*'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Associate the NSG to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rg-az104-lab20 --vnet-name vnet-lab20 --name snet-app --network-security-group nsg-app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VMs and place NICs in the ASGs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ip-config update -g rg-az104-lab20 --nic-name "$WEB_NIC" -n ipconfig1 --application-security-groups asg-web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Evaluate the effective security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list-effective-nsg --resource-group rg-az104-lab20 --name "$WEB_NIC"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flow verify on vm-web returns Allow by Allow-HTTPS-Web for port 443 and Deny for port 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Azure Bastion for browser-based RDP/SSH without VM public IPs, lock a storage account to a subnet with a service endpoint, then bring that storage into the VNet with a private endpoint and private DNS.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Azure Bastion plus a storage account reachable via a private endpoint.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Bastion, Virtual Network, Public IP, Service Endpoints, Private Endpoint, Private DNS Zone, Azure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rg-az104-lab21 --name vnet-lab21 --address-prefixes 10.50.0.0/16 --subnet-name snet-workload --subnet-prefixes 10.50.1.0/24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AzureBastionSubnet (/26 or larger)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create --resource-group rg-az104-lab21 --vnet-name vnet-lab21 --name AzureBastionSubnet --address-prefixes 10.50.2.0/26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Standard public IP for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rg-az104-lab21 --name pip-bastion --sku Standard --allocation-method 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Azure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bastion create --resource-group rg-az104-lab21 --name bastion-lab21 --vnet-name vnet-lab21 --public-ip-address pip-bastion --location eastus --sku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with no public IP for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rg-az104-lab21 --name vm-jump --image Ubuntu2204 --size Standard_B1s --vnet-name vnet-lab21 --subnet snet-workload --public-ip-address ""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storage account for endpoint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--resource-group rg-az104-lab21 --name $STG --sku Standard_LRS --kind StorageV2 --location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 service endpoint on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rg-az104-lab21 --vnet-name vnet-lab21 --name snet-workload --service-endpoints Microsoft.Storage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Restrict the storage account to that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network-rule add --resource-group rg-az104-lab21 --account-name $STG --vnet-name vnet-lab21 --subnet snet-workload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private endpoint and integrate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private-endpoint create --resource-group rg-az104-lab21 --name pe-storage-blob --vnet-name vnet-lab21 --subnet snet-workload --private-connection-resource-id "$STG_ID" --group-id blob --connection-name pe-storage-conn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From vm-jump via Bastion, nslookup of the storage blob endpoint resolves to a 10.50.x.x private IP instead of a public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Host a public DNS zone with A and CNAME records, then build a public Standard load balancer with a backend pool, health probe and rule across two VMs, and troubleshoot uneven traffic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public DNS zone plus a Standard load balancer distributing across two VMs.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DNS, Azure Load Balancer (Standard), Public IP, Virtual Network, Backend Pool, Health Probe, Network Watcher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rg-az104-lab22 --name vnet-lab22 --address-prefixes 10.60.0.0/16 --subnet-name snet-backend --subnet-prefixes 10.60.1.0/24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public Azure DNS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dns zone create --resource-group rg-az104-lab22 --name contoso-az104-demo.com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and CNAME records to the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dns record-set a add-record --resource-group rg-az104-lab22 --zone-name contoso-az104-demo.com --record-set-name www --ipv4-address 20.1.2.3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Standard public IP for the LB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rg-az104-lab22 --name pip-lb --sku Standard --allocation-method 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public load balancer with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create --resource-group rg-az104-lab22 --name lb-web --sku Standard --public-ip-address pip-lb --frontend-ip-name fe-web --backend-pool-name pool-web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health probe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probe create --resource-group rg-az104-lab22 --lb-name lb-web --name probe-http --protocol Tcp --port 80 --interval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load-balancing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rule create --resource-group rg-az104-lab22 --lb-name lb-web --name rule-http --protocol Tcp --frontend-port 80 --backend-port 80 --frontend-ip-name fe-web --backend-pool-name pool-web --probe-name probe-http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two backend VMs into the pool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ip-config address-pool add --resource-group rg-az104-lab22 --nic-name "$NIC" --ip-config-name ipconfig1 --lb-name lb-web --address-pool pool-web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and troubleshoot load balancing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list --resource $(az network lb show -g rg-az104-lab22 -n lb-web --query id -o tsv) --metric DipAvailability VipAvailability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Browsing the LB frontend IP repeatedly alternates responses between vm-web1 and vm-web2, confirming traffic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virtual networks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IP addressing and routing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Secure network traffic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Provide secure access to PaaS and VMs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name resolution and load 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Monitor and Maintain Azure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Azure Monitor · Network Watcher · Backup · Site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Monitor collects metrics and logs (Log Analytics + KQL) and raises alerts via action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Network Watcher diagnoses connectivity (IP flow verify, next hop, connection monitor).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Backup protects data with point-in-time restore from a Recovery Services vault.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Site Recovery replicates workloads to a second region for disaster-recovery failover.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23–24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Monitor: Metrics, Logs, KQL, and Alerts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Network Watcher and Connection 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25–26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Backup: Recovery Services Vault, Policies, Backup and Restore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Site Recovery: Replicate, Fail Over, and Interpret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the full Azure Monitor loop: a Log Analytics workspace, diagnostic settings, metrics, KQL queries, and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Log Analytics workspace with diagnostic data, KQL queries, and metric/activity/processing alert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Monitor, Log Analytics workspace, Metrics, Alerts, Action Groups, Alert Processing Rules, VM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Log Analytics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log-analytics workspace create --resource-group "$RG" --workspace-name "$WS" --location "$LOCATION" --retention-time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monitored VM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"$RG" --name "vm-az104-lab23"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platform metrics such as Percentage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list --resource "$VM_ID" --metric "Percentage CPU" --aggregation Average --interval PT5M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Route logs via diagnostic settings to the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diagnostic-settings create --name "diag-to-law" --resource "$STORAGE_ID/blobServices/default" --workspace "$WS_ID" --logs '[{"category":"StorageRead","enabled":true}]' --metrics '[{"category":"Transaction","enabled":true}]'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VM Insights (Azure Monitor Agent + DCR)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extension set --resource-group "$RG" --vm-name "vm-az104-lab23" --name AzureMonitorLinuxAgent --publisher Microsoft.Azure.Monitor --enable-auto-upgrade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logs with KQL against Heartbeat/Perf/AzureActivity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log-analytics query --workspace "$WS_GUID" --analytics-query "Heartbeat | summarize LastHeartbeat = max(TimeGenerated) by Computer"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action group for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action-group create --resource-group "$RG" --name "ag-az104-lab23" --short-name "az104ag" --action email admin angch@tertiaryinfotech.com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metric alert on high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alert create --name "alert-vm-highcpu" --resource-group "$RG" --scopes "$VM_ID" --condition "avg Percentage CPU &gt; 80" --window-size 5m --evaluation-frequency 1m --severity 3 --action "$AG_ID"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alert processing rule across the 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alert-processing-rule create --name "apr-add-ag" --resource-group "$RG" --scopes "/subscriptions/$SUB_ID/resourceGroups/$RG" --rule-type AddActionGroups --action-groups "$AG_ID"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 Monitor → Logs the KQL queries return data and the metric/activity/processing alert rules appear under Monitor →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Network Watcher's diagnostic tools to verify traffic rules, trace routing, capture packets, and continuously monitor reachability between VMs.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VMs diagnosed with IP flow verify, next hop, NSG flow logs, packet capture, and a Connection Monitor.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Network Watcher, IP Flow Verify, Next Hop, NSG Diagnostics, Packet Capture, Connection Monitor, VNet, NSG, VMs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virtual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"$RG" --name "vnet-az104-lab24" --address-prefix 10.10.0.0/16 --subnet-name "subnet-app" --subnet-prefix 10.10.1.0/24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two VMs with an NSG allowing SSH/HTTP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-g "$RG" -n "vm-web" --image Ubuntu2204 --size Standard_B1s --vnet-name "vnet-az104-lab24" --subnet "subnet-app" --admin-username azureuser --generate-ssh-keys --public-ip-sku Standard --nsg "nsg-web"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IP flow verify to check a 5-tuple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test-ip-flow --vm "$VMWEB_ID" --direction Inbound --protocol TCP --local "10.10.1.4:80" --remote "13.68.0.1:50000"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Trace routing with next 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show-next-hop --resource-group "$RG" --vm "vm-web" --source-ip 10.10.1.4 --dest-ip 8.8.8.8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effective NSG rules on the 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list-effective-nsg --ids "$NIC_ID" -o jsonc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NSG flow logs to a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flow-log create --location "$LOCATION" --name "flowlog-nsg-web" --nsg "$NSG_ID" --storage-account "$STORAGE_ID" --retention 7 --enabled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packets on the VM for offline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packet-capture create --resource-group "$RG" --vm "vm-web" --name "pcap-vm-web" --storage-account "$STORAGE" --time-limit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point-in-time connection troubleshoot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"$RG" --source-resource "vm-web" --dest-address "$VMAPP_IP" --dest-port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 continuous Connection 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connection-monitor create --name "cm-web-to-app" --location "$LOCATION" --endpoint-source-name "src-vm-web" --endpoint-source-resource-id "$VMWEB_ID" --endpoint-dest-name "dst-vm-app" --endpoint-dest-address "$VMAPP_IP" --test-config-name "tcp-22" --protocol Tcp --tcp-port 22 --frequency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flow verify returns Allow/Deny with the deciding rule, and Connection Monitor shows ongoing reachability results between vm-web and vm-app.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Recovery Services vault, author a custom backup policy, protect a VM, run backups, and perform file-level and full VM restores.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Recovery Services vault protecting a VM with a custom policy, recovery points, and configured backup reports/alerts.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Recovery Services vault, Azure Backup, Backup policy, Virtual Machine, Backup center / Backup reports, Azure Monitor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Recovery Services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create --resource-group "$RG" --name "$VAULT" --location "$LOCATION"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backup storage redundancy to GRS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backup-properties set --resource-group "$RG" --name "$VAULT" --backup-storage-redundancy GeoRedundant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to protect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"$RG" --name "vm-az104-lab25"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custom daily backup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policy create --resource-group "$RG" --vault-name "$VAULT" --name "pol-daily-30d" --backup-management-type AzureIaasVM --policy @policy.json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backup protection on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protection enable-for-vm --resource-group "$RG" --vault-name "$VAULT" --vm "vm-az104-lab25" --policy-name "pol-daily-30d"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an on-demand backup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protection backup-now --resource-group "$RG" --vault-name "$VAULT" --container-name "vm-az104-lab25" --item-name "vm-az104-lab25" --backup-management-type AzureIaasVM --retain-until 31-07-2026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individual files via ILR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restore files mount-rp --resource-group "$RG" --vault-name "$VAULT" --container-name "vm-az104-lab25" --item-name "vm-az104-lab25" --rp-name "$RP"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the full VM disks to staging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restore restore-disks --resource-group "$RG" --vault-name "$VAULT" --container-name "vm-az104-lab25" --item-name "vm-az104-lab25" --rp-name "$RP" --storage-account "$STORAGE" --target-resource-group "$RG"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vault diagnostics for backup reports/alerts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diagnostic-settings create --name "vault-diag" --resource "$VAULT_ID" --workspace "$WS_ID" --logs '[{"category":"CoreAzureBackup","enabled":true},{"category":"AddonAzureBackupJobs","enabled":true}]'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az backup item list shows the VM protected with recovery points, and the restore jobs complete successfully in Backup Jobs.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Enable Azure-to-Azure replication for a VM, run test and real failovers with re-protect and failback, and interpret replication health.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VM replicated to a secondary region via ASR with test/real failover, failback, and a Recovery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Recovery Services vault (Site Recovery), Azure Site Recovery (Azure-to-Azure), source VM, source/target VNets, cache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group, source VM, and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create --resource-group "$RG" --name "$VAULT" --location "$PRIMARY"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Pre-create DR resource group, VNet, and cache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"rg-az104-lab26-dr" --name "vnet-dr" --location "$SECONDARY" --address-prefix 10.20.0.0/16 --subnet-name "default" --subnet-prefix 10.20.1.0/24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Site Recovery replication for the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Adjust the replication policy (snapshot frequency/retention)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replication health, status, and RPO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list --resource-group "$RG" --resource-type "Microsoft.RecoveryServices/vaults"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non-disruptive test failover into an isolated VNet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Perform a failover to the secondary region and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list --resource-group "rg-az104-lab26-dr"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Re-protect and fail back to the primary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Recovery Plan for orchestrated failover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replicated item reaches Protected/Healthy with a current RPO, and a test failover creates a working VM in the secondary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Monitor resources with Azure Monitor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Monitor networks with Azure Network Watcher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backup and recovery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disaster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Identities &amp; Governance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Managed Entra identities, RBAC, Policy, resource groups, locks, tags and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Configured storage accounts, redundancy, access control, Blob and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Deployed with ARM/Bicep; ran VMs, scale sets, containers and App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Virtual Networking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Built VNets, NSGs/ASGs, Bastion, endpoints, DNS and load balancing.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Monitor &amp; Maintain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Used Azure Monitor, Network Watcher, Backup and Site Recovery.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AZ-104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using only the Azure CLI until the commands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bullets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Take the free Microsoft practice assessment for AZ-104.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Passing score is 700/1000; book the exam from your Microsoft Learn profile.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Always run the clean-up step to keep your Azure bill near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AZ-104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https://exams.tertiaryinfotech.com/practice-exams/microsoft/microsoft-az-104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administer Microsoft Azure — and to sit the AZ-104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Certified Azure Administrator Associate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